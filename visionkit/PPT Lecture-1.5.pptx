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14"/>
  </p:notesMasterIdLst>
  <p:handoutMasterIdLst>
    <p:handoutMasterId r:id="rId15"/>
  </p:handoutMasterIdLst>
  <p:sldIdLst>
    <p:sldId id="287" r:id="rId3"/>
    <p:sldId id="281" r:id="rId4"/>
    <p:sldId id="414" r:id="rId5"/>
    <p:sldId id="415" r:id="rId6"/>
    <p:sldId id="416" r:id="rId7"/>
    <p:sldId id="417" r:id="rId8"/>
    <p:sldId id="418" r:id="rId9"/>
    <p:sldId id="419" r:id="rId10"/>
    <p:sldId id="421" r:id="rId11"/>
    <p:sldId id="422" r:id="rId12"/>
    <p:sldId id="43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445" autoAdjust="0"/>
    <p:restoredTop sz="94694"/>
  </p:normalViewPr>
  <p:slideViewPr>
    <p:cSldViewPr snapToGrid="0">
      <p:cViewPr varScale="1">
        <p:scale>
          <a:sx n="121" d="100"/>
          <a:sy n="121" d="100"/>
        </p:scale>
        <p:origin x="304" y="1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12/18/25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12/18/25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0732FBC-CC67-4B17-8935-02F23E3364AC}" type="slidenum">
              <a:rPr lang="en-US" smtClean="0"/>
              <a:pPr/>
              <a:t>1</a:t>
            </a:fld>
            <a:endParaRPr lang="en-US"/>
          </a:p>
        </p:txBody>
      </p:sp>
    </p:spTree>
    <p:extLst>
      <p:ext uri="{BB962C8B-B14F-4D97-AF65-F5344CB8AC3E}">
        <p14:creationId xmlns:p14="http://schemas.microsoft.com/office/powerpoint/2010/main" val="42354395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0732FBC-CC67-4B17-8935-02F23E3364AC}" type="slidenum">
              <a:rPr lang="en-US" smtClean="0"/>
              <a:pPr/>
              <a:t>2</a:t>
            </a:fld>
            <a:endParaRPr lang="en-US" dirty="0"/>
          </a:p>
        </p:txBody>
      </p:sp>
    </p:spTree>
    <p:extLst>
      <p:ext uri="{BB962C8B-B14F-4D97-AF65-F5344CB8AC3E}">
        <p14:creationId xmlns:p14="http://schemas.microsoft.com/office/powerpoint/2010/main" val="19717823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2.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00;p1">
            <a:extLst>
              <a:ext uri="{FF2B5EF4-FFF2-40B4-BE49-F238E27FC236}">
                <a16:creationId xmlns:a16="http://schemas.microsoft.com/office/drawing/2014/main" id="{3FB6275E-5BD8-C797-A2BE-DD68C22B2BB0}"/>
              </a:ext>
            </a:extLst>
          </p:cNvPr>
          <p:cNvSpPr txBox="1"/>
          <p:nvPr/>
        </p:nvSpPr>
        <p:spPr>
          <a:xfrm>
            <a:off x="8763000" y="6508750"/>
            <a:ext cx="27432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200" b="0" i="0" u="none" strike="noStrike" cap="none">
              <a:solidFill>
                <a:srgbClr val="888888"/>
              </a:solidFill>
              <a:latin typeface="Calibri"/>
              <a:ea typeface="Calibri"/>
              <a:cs typeface="Calibri"/>
              <a:sym typeface="Calibri"/>
            </a:endParaRPr>
          </a:p>
        </p:txBody>
      </p:sp>
      <p:sp>
        <p:nvSpPr>
          <p:cNvPr id="6" name="Google Shape;101;p1">
            <a:extLst>
              <a:ext uri="{FF2B5EF4-FFF2-40B4-BE49-F238E27FC236}">
                <a16:creationId xmlns:a16="http://schemas.microsoft.com/office/drawing/2014/main" id="{AF62EA46-C0D3-0D77-5C3C-2E3741338860}"/>
              </a:ext>
            </a:extLst>
          </p:cNvPr>
          <p:cNvSpPr/>
          <p:nvPr/>
        </p:nvSpPr>
        <p:spPr>
          <a:xfrm rot="10800000" flipH="1">
            <a:off x="9506857" y="5939880"/>
            <a:ext cx="1291772" cy="1157606"/>
          </a:xfrm>
          <a:prstGeom prst="rtTriangle">
            <a:avLst/>
          </a:prstGeom>
          <a:solidFill>
            <a:srgbClr val="F2F2F2">
              <a:alpha val="1686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7" name="Google Shape;104;p1">
            <a:extLst>
              <a:ext uri="{FF2B5EF4-FFF2-40B4-BE49-F238E27FC236}">
                <a16:creationId xmlns:a16="http://schemas.microsoft.com/office/drawing/2014/main" id="{E1C2DA28-3BE2-6A83-A257-E6580430C369}"/>
              </a:ext>
            </a:extLst>
          </p:cNvPr>
          <p:cNvSpPr/>
          <p:nvPr/>
        </p:nvSpPr>
        <p:spPr>
          <a:xfrm>
            <a:off x="2124074" y="2025525"/>
            <a:ext cx="6829425" cy="1580679"/>
          </a:xfrm>
          <a:prstGeom prst="rect">
            <a:avLst/>
          </a:prstGeom>
          <a:gradFill>
            <a:gsLst>
              <a:gs pos="0">
                <a:srgbClr val="FFFFFF">
                  <a:alpha val="0"/>
                </a:srgbClr>
              </a:gs>
              <a:gs pos="2655">
                <a:srgbClr val="FFFFFF">
                  <a:alpha val="0"/>
                </a:srgbClr>
              </a:gs>
              <a:gs pos="15000">
                <a:srgbClr val="FFFFFF">
                  <a:alpha val="33725"/>
                </a:srgbClr>
              </a:gs>
              <a:gs pos="51000">
                <a:schemeClr val="lt1"/>
              </a:gs>
              <a:gs pos="94000">
                <a:srgbClr val="FFFFFF">
                  <a:alpha val="33725"/>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8" name="Google Shape;105;p1">
            <a:extLst>
              <a:ext uri="{FF2B5EF4-FFF2-40B4-BE49-F238E27FC236}">
                <a16:creationId xmlns:a16="http://schemas.microsoft.com/office/drawing/2014/main" id="{F61319D4-F04C-A541-C4BA-C81CE21BA6CE}"/>
              </a:ext>
            </a:extLst>
          </p:cNvPr>
          <p:cNvPicPr preferRelativeResize="0"/>
          <p:nvPr/>
        </p:nvPicPr>
        <p:blipFill rotWithShape="1">
          <a:blip r:embed="rId3">
            <a:alphaModFix/>
          </a:blip>
          <a:srcRect/>
          <a:stretch/>
        </p:blipFill>
        <p:spPr>
          <a:xfrm>
            <a:off x="12104" y="24501"/>
            <a:ext cx="3859753" cy="1538254"/>
          </a:xfrm>
          <a:prstGeom prst="rect">
            <a:avLst/>
          </a:prstGeom>
          <a:noFill/>
          <a:ln>
            <a:noFill/>
          </a:ln>
        </p:spPr>
      </p:pic>
      <p:sp>
        <p:nvSpPr>
          <p:cNvPr id="9" name="Google Shape;106;p1">
            <a:extLst>
              <a:ext uri="{FF2B5EF4-FFF2-40B4-BE49-F238E27FC236}">
                <a16:creationId xmlns:a16="http://schemas.microsoft.com/office/drawing/2014/main" id="{ED432520-CC93-1FE3-8234-633B4C37ECEA}"/>
              </a:ext>
            </a:extLst>
          </p:cNvPr>
          <p:cNvSpPr/>
          <p:nvPr/>
        </p:nvSpPr>
        <p:spPr>
          <a:xfrm flipH="1">
            <a:off x="9829797" y="5333999"/>
            <a:ext cx="2366623" cy="1600201"/>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 name="Google Shape;110;p1">
            <a:extLst>
              <a:ext uri="{FF2B5EF4-FFF2-40B4-BE49-F238E27FC236}">
                <a16:creationId xmlns:a16="http://schemas.microsoft.com/office/drawing/2014/main" id="{BBA372C6-10E2-D799-C185-1CA4E59C3815}"/>
              </a:ext>
            </a:extLst>
          </p:cNvPr>
          <p:cNvSpPr txBox="1"/>
          <p:nvPr/>
        </p:nvSpPr>
        <p:spPr>
          <a:xfrm>
            <a:off x="3732294" y="4269276"/>
            <a:ext cx="4868754" cy="1723549"/>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None/>
            </a:pPr>
            <a:r>
              <a:rPr lang="en-US" sz="2400" b="0" i="0" u="none" strike="noStrike" cap="none">
                <a:solidFill>
                  <a:srgbClr val="262626"/>
                </a:solidFill>
                <a:latin typeface="Times New Roman"/>
                <a:ea typeface="Times New Roman"/>
                <a:cs typeface="Times New Roman"/>
                <a:sym typeface="Times New Roman"/>
              </a:rPr>
              <a:t>TOPIC OF PRESENTATION:</a:t>
            </a:r>
            <a:endParaRPr/>
          </a:p>
          <a:p>
            <a:pPr marL="0" marR="0" lvl="0" indent="0" algn="ctr" rtl="0">
              <a:lnSpc>
                <a:spcPct val="90000"/>
              </a:lnSpc>
              <a:spcBef>
                <a:spcPts val="840"/>
              </a:spcBef>
              <a:spcAft>
                <a:spcPts val="0"/>
              </a:spcAft>
              <a:buNone/>
            </a:pPr>
            <a:r>
              <a:rPr lang="en-US" sz="2400" b="0" i="0" u="none" strike="noStrike" cap="none">
                <a:solidFill>
                  <a:schemeClr val="dk1"/>
                </a:solidFill>
                <a:latin typeface="Times New Roman"/>
                <a:ea typeface="Times New Roman"/>
                <a:cs typeface="Times New Roman"/>
                <a:sym typeface="Times New Roman"/>
              </a:rPr>
              <a:t>Java Fundamentals</a:t>
            </a:r>
            <a:endParaRPr/>
          </a:p>
          <a:p>
            <a:pPr marL="0" marR="0" lvl="0" indent="0" algn="ctr" rtl="0">
              <a:lnSpc>
                <a:spcPct val="90000"/>
              </a:lnSpc>
              <a:spcBef>
                <a:spcPts val="840"/>
              </a:spcBef>
              <a:spcAft>
                <a:spcPts val="0"/>
              </a:spcAft>
              <a:buNone/>
            </a:pPr>
            <a:endParaRPr sz="2400" b="0" i="0" u="none" strike="noStrike" cap="none">
              <a:solidFill>
                <a:srgbClr val="262626"/>
              </a:solidFill>
              <a:latin typeface="Times New Roman"/>
              <a:ea typeface="Times New Roman"/>
              <a:cs typeface="Times New Roman"/>
              <a:sym typeface="Times New Roman"/>
            </a:endParaRPr>
          </a:p>
          <a:p>
            <a:pPr marL="0" marR="0" lvl="0" indent="0" algn="l" rtl="0">
              <a:spcBef>
                <a:spcPts val="840"/>
              </a:spcBef>
              <a:spcAft>
                <a:spcPts val="0"/>
              </a:spcAft>
              <a:buNone/>
            </a:pPr>
            <a:endParaRPr sz="1600" b="0" i="0" u="none" strike="noStrike" cap="none">
              <a:solidFill>
                <a:schemeClr val="dk1"/>
              </a:solidFill>
              <a:latin typeface="Raleway ExtraBold"/>
              <a:ea typeface="Raleway ExtraBold"/>
              <a:cs typeface="Raleway ExtraBold"/>
              <a:sym typeface="Raleway ExtraBold"/>
            </a:endParaRPr>
          </a:p>
        </p:txBody>
      </p:sp>
      <p:sp>
        <p:nvSpPr>
          <p:cNvPr id="11" name="Google Shape;111;p1">
            <a:extLst>
              <a:ext uri="{FF2B5EF4-FFF2-40B4-BE49-F238E27FC236}">
                <a16:creationId xmlns:a16="http://schemas.microsoft.com/office/drawing/2014/main" id="{48B41AB6-4AAB-4CD0-B3B4-D7A75DE695B8}"/>
              </a:ext>
            </a:extLst>
          </p:cNvPr>
          <p:cNvSpPr txBox="1"/>
          <p:nvPr/>
        </p:nvSpPr>
        <p:spPr>
          <a:xfrm>
            <a:off x="355911" y="6100001"/>
            <a:ext cx="10790913" cy="673990"/>
          </a:xfrm>
          <a:prstGeom prst="rect">
            <a:avLst/>
          </a:prstGeom>
          <a:noFill/>
          <a:ln>
            <a:noFill/>
          </a:ln>
        </p:spPr>
        <p:txBody>
          <a:bodyPr spcFirstLastPara="1" wrap="square" lIns="91425" tIns="45700" rIns="91425" bIns="45700" anchor="t" anchorCtr="0">
            <a:spAutoFit/>
          </a:bodyPr>
          <a:lstStyle/>
          <a:p>
            <a:pPr marL="0" marR="0" lvl="0" indent="0" algn="l" rtl="0">
              <a:lnSpc>
                <a:spcPct val="90000"/>
              </a:lnSpc>
              <a:spcBef>
                <a:spcPts val="0"/>
              </a:spcBef>
              <a:spcAft>
                <a:spcPts val="0"/>
              </a:spcAft>
              <a:buNone/>
            </a:pPr>
            <a:endParaRPr sz="1800" dirty="0">
              <a:solidFill>
                <a:srgbClr val="262626"/>
              </a:solidFill>
              <a:latin typeface="Times New Roman"/>
              <a:ea typeface="Times New Roman"/>
              <a:cs typeface="Times New Roman"/>
              <a:sym typeface="Times New Roman"/>
            </a:endParaRPr>
          </a:p>
          <a:p>
            <a:pPr marL="0" marR="0" lvl="0" indent="0" algn="l" rtl="0">
              <a:lnSpc>
                <a:spcPct val="90000"/>
              </a:lnSpc>
              <a:spcBef>
                <a:spcPts val="0"/>
              </a:spcBef>
              <a:spcAft>
                <a:spcPts val="0"/>
              </a:spcAft>
              <a:buNone/>
            </a:pPr>
            <a:r>
              <a:rPr lang="en-US" sz="2400" dirty="0">
                <a:solidFill>
                  <a:srgbClr val="262626"/>
                </a:solidFill>
                <a:latin typeface="Times New Roman"/>
                <a:ea typeface="Times New Roman"/>
                <a:cs typeface="Times New Roman"/>
                <a:sym typeface="Times New Roman"/>
              </a:rPr>
              <a:t>Er. Simranjeet Kour -E13963                                                   </a:t>
            </a:r>
            <a:r>
              <a:rPr lang="en-US" sz="2400" b="0" i="0" u="none" strike="noStrike" cap="none" dirty="0">
                <a:solidFill>
                  <a:srgbClr val="262626"/>
                </a:solidFill>
                <a:latin typeface="Times New Roman"/>
                <a:ea typeface="Times New Roman"/>
                <a:cs typeface="Times New Roman"/>
                <a:sym typeface="Times New Roman"/>
              </a:rPr>
              <a:t>Assistant Professor</a:t>
            </a:r>
          </a:p>
        </p:txBody>
      </p:sp>
      <p:pic>
        <p:nvPicPr>
          <p:cNvPr id="12" name="Picture 2" descr="Chandigarh University Archives - Worldwide Transcript">
            <a:extLst>
              <a:ext uri="{FF2B5EF4-FFF2-40B4-BE49-F238E27FC236}">
                <a16:creationId xmlns:a16="http://schemas.microsoft.com/office/drawing/2014/main" id="{D14EF50D-8538-2920-A5FF-8B0B24479C98}"/>
              </a:ext>
            </a:extLst>
          </p:cNvPr>
          <p:cNvPicPr>
            <a:picLocks noChangeAspect="1" noChangeArrowheads="1"/>
          </p:cNvPicPr>
          <p:nvPr/>
        </p:nvPicPr>
        <p:blipFill>
          <a:blip r:embed="rId4">
            <a:lum bright="70000" contrast="-70000"/>
            <a:extLst>
              <a:ext uri="{28A0092B-C50C-407E-A947-70E740481C1C}">
                <a14:useLocalDpi xmlns:a14="http://schemas.microsoft.com/office/drawing/2010/main" val="0"/>
              </a:ext>
            </a:extLst>
          </a:blip>
          <a:srcRect/>
          <a:stretch>
            <a:fillRect/>
          </a:stretch>
        </p:blipFill>
        <p:spPr bwMode="auto">
          <a:xfrm>
            <a:off x="172538" y="1957188"/>
            <a:ext cx="3799534" cy="3799534"/>
          </a:xfrm>
          <a:prstGeom prst="rect">
            <a:avLst/>
          </a:prstGeom>
          <a:noFill/>
          <a:extLst>
            <a:ext uri="{909E8E84-426E-40DD-AFC4-6F175D3DCCD1}">
              <a14:hiddenFill xmlns:a14="http://schemas.microsoft.com/office/drawing/2010/main">
                <a:solidFill>
                  <a:srgbClr val="FFFFFF"/>
                </a:solidFill>
              </a14:hiddenFill>
            </a:ext>
          </a:extLst>
        </p:spPr>
      </p:pic>
      <p:sp>
        <p:nvSpPr>
          <p:cNvPr id="13" name="Google Shape;109;p1">
            <a:extLst>
              <a:ext uri="{FF2B5EF4-FFF2-40B4-BE49-F238E27FC236}">
                <a16:creationId xmlns:a16="http://schemas.microsoft.com/office/drawing/2014/main" id="{8B45C2B6-606F-1739-623B-D123571B21D0}"/>
              </a:ext>
            </a:extLst>
          </p:cNvPr>
          <p:cNvSpPr txBox="1"/>
          <p:nvPr/>
        </p:nvSpPr>
        <p:spPr>
          <a:xfrm>
            <a:off x="1969161" y="1101278"/>
            <a:ext cx="8395019" cy="6682815"/>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None/>
            </a:pPr>
            <a:r>
              <a:rPr lang="en-US" sz="2800" b="1" i="0" u="none" strike="noStrike" cap="none" dirty="0">
                <a:solidFill>
                  <a:schemeClr val="dk1"/>
                </a:solidFill>
                <a:latin typeface="Times New Roman"/>
                <a:ea typeface="Times New Roman"/>
                <a:cs typeface="Times New Roman"/>
                <a:sym typeface="Times New Roman"/>
              </a:rPr>
              <a:t>INSTITUTE : UIE</a:t>
            </a:r>
            <a:endParaRPr dirty="0"/>
          </a:p>
          <a:p>
            <a:pPr marL="0" marR="0" lvl="0" indent="0" algn="ctr" rtl="0">
              <a:lnSpc>
                <a:spcPct val="90000"/>
              </a:lnSpc>
              <a:spcBef>
                <a:spcPts val="980"/>
              </a:spcBef>
              <a:spcAft>
                <a:spcPts val="0"/>
              </a:spcAft>
              <a:buNone/>
            </a:pPr>
            <a:r>
              <a:rPr lang="en-US" sz="2800" b="1" i="0" u="none" strike="noStrike" cap="none" dirty="0">
                <a:solidFill>
                  <a:schemeClr val="dk1"/>
                </a:solidFill>
                <a:latin typeface="Times New Roman"/>
                <a:ea typeface="Times New Roman"/>
                <a:cs typeface="Times New Roman"/>
                <a:sym typeface="Times New Roman"/>
              </a:rPr>
              <a:t>DEPARTMENT : CSE</a:t>
            </a:r>
            <a:endParaRPr dirty="0"/>
          </a:p>
          <a:p>
            <a:pPr marL="0" marR="0" lvl="0" indent="0" algn="ctr" rtl="0">
              <a:lnSpc>
                <a:spcPct val="90000"/>
              </a:lnSpc>
              <a:spcBef>
                <a:spcPts val="980"/>
              </a:spcBef>
              <a:spcAft>
                <a:spcPts val="0"/>
              </a:spcAft>
              <a:buNone/>
            </a:pPr>
            <a:r>
              <a:rPr lang="en-US" sz="2800" b="0" i="0" u="none" strike="noStrike" cap="none" dirty="0">
                <a:solidFill>
                  <a:schemeClr val="dk1"/>
                </a:solidFill>
                <a:latin typeface="Times New Roman"/>
                <a:ea typeface="Times New Roman"/>
                <a:cs typeface="Times New Roman"/>
                <a:sym typeface="Times New Roman"/>
              </a:rPr>
              <a:t>Bachelor of Engineering (Computer Science &amp; Engineering) </a:t>
            </a:r>
            <a:endParaRPr dirty="0"/>
          </a:p>
          <a:p>
            <a:pPr marL="0" marR="0" lvl="0" indent="0" algn="ctr" rtl="0">
              <a:spcBef>
                <a:spcPts val="980"/>
              </a:spcBef>
              <a:spcAft>
                <a:spcPts val="0"/>
              </a:spcAft>
              <a:buNone/>
            </a:pPr>
            <a:endParaRPr sz="2800" b="0" i="0" u="none" strike="noStrike" cap="none" dirty="0">
              <a:solidFill>
                <a:srgbClr val="000000"/>
              </a:solidFill>
              <a:latin typeface="Times New Roman"/>
              <a:ea typeface="Times New Roman"/>
              <a:cs typeface="Times New Roman"/>
              <a:sym typeface="Times New Roman"/>
            </a:endParaRPr>
          </a:p>
          <a:p>
            <a:pPr marL="0" marR="0" lvl="0" indent="0" algn="ctr" rtl="0">
              <a:spcBef>
                <a:spcPts val="0"/>
              </a:spcBef>
              <a:spcAft>
                <a:spcPts val="0"/>
              </a:spcAft>
              <a:buNone/>
            </a:pPr>
            <a:r>
              <a:rPr lang="en-US" sz="2800" b="0" i="0" u="none" strike="noStrike" cap="none" dirty="0">
                <a:solidFill>
                  <a:srgbClr val="000000"/>
                </a:solidFill>
                <a:latin typeface="Times New Roman"/>
                <a:ea typeface="Times New Roman"/>
                <a:cs typeface="Times New Roman"/>
                <a:sym typeface="Times New Roman"/>
              </a:rPr>
              <a:t> </a:t>
            </a:r>
            <a:r>
              <a:rPr lang="en-US" sz="2800" b="1" i="0" u="none" strike="noStrike" cap="none" dirty="0">
                <a:solidFill>
                  <a:srgbClr val="000000"/>
                </a:solidFill>
                <a:latin typeface="Times New Roman"/>
                <a:ea typeface="Times New Roman"/>
                <a:cs typeface="Times New Roman"/>
                <a:sym typeface="Times New Roman"/>
              </a:rPr>
              <a:t>Object Oriented Programming using Java</a:t>
            </a:r>
            <a:endParaRPr dirty="0"/>
          </a:p>
          <a:p>
            <a:pPr marL="0" marR="0" lvl="0" indent="0" algn="ctr" rtl="0">
              <a:spcBef>
                <a:spcPts val="0"/>
              </a:spcBef>
              <a:spcAft>
                <a:spcPts val="0"/>
              </a:spcAft>
              <a:buNone/>
            </a:pPr>
            <a:r>
              <a:rPr lang="en-US" sz="2800" b="1" i="0" u="none" strike="noStrike" cap="none" dirty="0">
                <a:solidFill>
                  <a:srgbClr val="000000"/>
                </a:solidFill>
                <a:latin typeface="Times New Roman"/>
                <a:ea typeface="Times New Roman"/>
                <a:cs typeface="Times New Roman"/>
                <a:sym typeface="Times New Roman"/>
              </a:rPr>
              <a:t> </a:t>
            </a:r>
            <a:r>
              <a:rPr lang="en-US" sz="2800" b="1" i="0" u="none" strike="noStrike" cap="none">
                <a:solidFill>
                  <a:srgbClr val="262626"/>
                </a:solidFill>
                <a:latin typeface="Times New Roman"/>
                <a:ea typeface="Times New Roman"/>
                <a:cs typeface="Times New Roman"/>
                <a:sym typeface="Times New Roman"/>
              </a:rPr>
              <a:t>(</a:t>
            </a:r>
            <a:r>
              <a:rPr lang="en-US" sz="2800" b="1" i="0" u="none" strike="noStrike" cap="none">
                <a:solidFill>
                  <a:srgbClr val="000000"/>
                </a:solidFill>
                <a:latin typeface="Times New Roman"/>
                <a:ea typeface="Times New Roman"/>
                <a:cs typeface="Times New Roman"/>
                <a:sym typeface="Times New Roman"/>
              </a:rPr>
              <a:t>24CSH-207 </a:t>
            </a:r>
            <a:r>
              <a:rPr lang="en-US" sz="2800" b="1" i="0" u="none" strike="noStrike" cap="none" dirty="0">
                <a:solidFill>
                  <a:srgbClr val="262626"/>
                </a:solidFill>
                <a:latin typeface="Times New Roman"/>
                <a:ea typeface="Times New Roman"/>
                <a:cs typeface="Times New Roman"/>
                <a:sym typeface="Times New Roman"/>
              </a:rPr>
              <a:t>)</a:t>
            </a:r>
            <a:endParaRPr dirty="0"/>
          </a:p>
          <a:p>
            <a:pPr marL="0" marR="0" lvl="0" indent="0" algn="ctr" rtl="0">
              <a:lnSpc>
                <a:spcPct val="90000"/>
              </a:lnSpc>
              <a:spcBef>
                <a:spcPts val="0"/>
              </a:spcBef>
              <a:spcAft>
                <a:spcPts val="0"/>
              </a:spcAft>
              <a:buNone/>
            </a:pPr>
            <a:endParaRPr sz="3200" b="1" i="0" u="none" strike="noStrike" cap="none" dirty="0">
              <a:solidFill>
                <a:srgbClr val="262626"/>
              </a:solidFill>
              <a:latin typeface="Times New Roman"/>
              <a:ea typeface="Times New Roman"/>
              <a:cs typeface="Times New Roman"/>
              <a:sym typeface="Times New Roman"/>
            </a:endParaRPr>
          </a:p>
          <a:p>
            <a:pPr marL="0" marR="0" lvl="0" indent="0" algn="ctr" rtl="0">
              <a:lnSpc>
                <a:spcPct val="90000"/>
              </a:lnSpc>
              <a:spcBef>
                <a:spcPts val="1120"/>
              </a:spcBef>
              <a:spcAft>
                <a:spcPts val="0"/>
              </a:spcAft>
              <a:buNone/>
            </a:pPr>
            <a:r>
              <a:rPr lang="en-US" sz="3200" b="1" i="0" u="none" strike="noStrike" cap="none" dirty="0">
                <a:solidFill>
                  <a:srgbClr val="262626"/>
                </a:solidFill>
                <a:latin typeface="Times New Roman"/>
                <a:ea typeface="Times New Roman"/>
                <a:cs typeface="Times New Roman"/>
                <a:sym typeface="Times New Roman"/>
              </a:rPr>
              <a:t> </a:t>
            </a:r>
            <a:endParaRPr sz="3200" b="1" i="0" u="none" strike="noStrike" cap="none" dirty="0">
              <a:solidFill>
                <a:srgbClr val="262626"/>
              </a:solidFill>
              <a:latin typeface="Times New Roman"/>
              <a:ea typeface="Times New Roman"/>
              <a:cs typeface="Times New Roman"/>
              <a:sym typeface="Times New Roman"/>
            </a:endParaRPr>
          </a:p>
          <a:p>
            <a:pPr algn="just">
              <a:lnSpc>
                <a:spcPct val="90000"/>
              </a:lnSpc>
              <a:spcBef>
                <a:spcPts val="1120"/>
              </a:spcBef>
            </a:pPr>
            <a:r>
              <a:rPr lang="en-US" sz="2400" b="1" dirty="0">
                <a:latin typeface="Calibri" panose="020F0502020204030204" pitchFamily="34" charset="0"/>
                <a:ea typeface="Calibri" panose="020F0502020204030204" pitchFamily="34" charset="0"/>
                <a:cs typeface="Calibri" panose="020F0502020204030204" pitchFamily="34" charset="0"/>
              </a:rPr>
              <a:t>Unit No. 1                      Chapter No. 1                     Lecture No. 1.4</a:t>
            </a:r>
          </a:p>
          <a:p>
            <a:pPr marL="0" marR="0" lvl="0" indent="0" algn="just" rtl="0">
              <a:lnSpc>
                <a:spcPct val="90000"/>
              </a:lnSpc>
              <a:spcBef>
                <a:spcPts val="1120"/>
              </a:spcBef>
              <a:spcAft>
                <a:spcPts val="0"/>
              </a:spcAft>
              <a:buNone/>
            </a:pPr>
            <a:r>
              <a:rPr lang="en-US" sz="3200" b="1" i="0" u="none" strike="noStrike" cap="none" dirty="0">
                <a:solidFill>
                  <a:srgbClr val="262626"/>
                </a:solidFill>
                <a:latin typeface="Times New Roman"/>
                <a:ea typeface="Times New Roman"/>
                <a:cs typeface="Times New Roman"/>
                <a:sym typeface="Times New Roman"/>
              </a:rPr>
              <a:t>								 		</a:t>
            </a:r>
            <a:r>
              <a:rPr lang="en-US" sz="1800" b="0" i="0" u="none" strike="noStrike" cap="none" dirty="0">
                <a:solidFill>
                  <a:srgbClr val="262626"/>
                </a:solidFill>
                <a:latin typeface="Times New Roman"/>
                <a:ea typeface="Times New Roman"/>
                <a:cs typeface="Times New Roman"/>
                <a:sym typeface="Times New Roman"/>
              </a:rPr>
              <a:t>									                                                 </a:t>
            </a:r>
            <a:endParaRPr dirty="0"/>
          </a:p>
          <a:p>
            <a:pPr marL="0" marR="0" lvl="0" indent="0" algn="ctr" rtl="0">
              <a:lnSpc>
                <a:spcPct val="90000"/>
              </a:lnSpc>
              <a:spcBef>
                <a:spcPts val="1120"/>
              </a:spcBef>
              <a:spcAft>
                <a:spcPts val="0"/>
              </a:spcAft>
              <a:buNone/>
            </a:pPr>
            <a:endParaRPr sz="3200" b="1" i="0" u="none" strike="noStrike" cap="none" dirty="0">
              <a:solidFill>
                <a:srgbClr val="262626"/>
              </a:solidFill>
              <a:latin typeface="Times New Roman"/>
              <a:ea typeface="Times New Roman"/>
              <a:cs typeface="Times New Roman"/>
              <a:sym typeface="Times New Roman"/>
            </a:endParaRPr>
          </a:p>
        </p:txBody>
      </p:sp>
      <p:sp>
        <p:nvSpPr>
          <p:cNvPr id="14" name="TextBox 13">
            <a:extLst>
              <a:ext uri="{FF2B5EF4-FFF2-40B4-BE49-F238E27FC236}">
                <a16:creationId xmlns:a16="http://schemas.microsoft.com/office/drawing/2014/main" id="{702016AA-5BDB-0CD5-5FAF-C98DBC4B71AC}"/>
              </a:ext>
            </a:extLst>
          </p:cNvPr>
          <p:cNvSpPr txBox="1"/>
          <p:nvPr/>
        </p:nvSpPr>
        <p:spPr>
          <a:xfrm>
            <a:off x="8223143" y="84009"/>
            <a:ext cx="3859199" cy="615553"/>
          </a:xfrm>
          <a:prstGeom prst="rect">
            <a:avLst/>
          </a:prstGeom>
          <a:noFill/>
        </p:spPr>
        <p:txBody>
          <a:bodyPr wrap="square" rtlCol="0">
            <a:spAutoFit/>
          </a:bodyPr>
          <a:lstStyle/>
          <a:p>
            <a:pPr algn="r"/>
            <a:r>
              <a:rPr lang="en-IN" sz="1800" b="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Academic Session 2025-26 </a:t>
            </a:r>
          </a:p>
          <a:p>
            <a:pPr algn="r"/>
            <a:r>
              <a:rPr lang="en-IN" sz="1600" b="1" dirty="0">
                <a:latin typeface="Calibri" panose="020F0502020204030204" pitchFamily="34" charset="0"/>
                <a:ea typeface="Calibri" panose="020F0502020204030204" pitchFamily="34" charset="0"/>
                <a:cs typeface="Calibri" panose="020F0502020204030204" pitchFamily="34" charset="0"/>
              </a:rPr>
              <a:t>EVEN Semester Jan-Jun 2026</a:t>
            </a:r>
          </a:p>
        </p:txBody>
      </p:sp>
    </p:spTree>
    <p:extLst>
      <p:ext uri="{BB962C8B-B14F-4D97-AF65-F5344CB8AC3E}">
        <p14:creationId xmlns:p14="http://schemas.microsoft.com/office/powerpoint/2010/main" val="9917949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449263" y="1840230"/>
            <a:ext cx="4322762" cy="4516120"/>
          </a:xfrm>
        </p:spPr>
        <p:txBody>
          <a:bodyPr>
            <a:normAutofit/>
          </a:bodyPr>
          <a:lstStyle/>
          <a:p>
            <a:endParaRPr lang="en-IN" dirty="0"/>
          </a:p>
          <a:p>
            <a:r>
              <a:rPr lang="en-US" sz="2400" dirty="0">
                <a:latin typeface="Times New Roman" panose="02020603050405020304" pitchFamily="18" charset="0"/>
                <a:cs typeface="Times New Roman" panose="02020603050405020304" pitchFamily="18" charset="0"/>
              </a:rPr>
              <a:t>In this lecture, we will discuss:</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Taking input from the User.</a:t>
            </a:r>
          </a:p>
          <a:p>
            <a:endParaRPr lang="en-US" sz="2400" dirty="0">
              <a:latin typeface="Times New Roman" panose="02020603050405020304" pitchFamily="18" charset="0"/>
              <a:cs typeface="Times New Roman" panose="02020603050405020304" pitchFamily="18" charset="0"/>
            </a:endParaRPr>
          </a:p>
          <a:p>
            <a:endParaRPr lang="en-US" dirty="0"/>
          </a:p>
          <a:p>
            <a:endParaRPr lang="en-US" dirty="0"/>
          </a:p>
          <a:p>
            <a:endParaRPr lang="en-US" dirty="0"/>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700722" y="501650"/>
            <a:ext cx="445656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dirty="0"/>
              <a:t>Lecture Objectives</a:t>
            </a:r>
            <a:br>
              <a:rPr lang="en-US" sz="2000" b="1"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2" name="Rectangle 1"/>
          <p:cNvSpPr/>
          <p:nvPr/>
        </p:nvSpPr>
        <p:spPr>
          <a:xfrm>
            <a:off x="5295900" y="838200"/>
            <a:ext cx="5867400" cy="5518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449262" y="1611630"/>
            <a:ext cx="4322762" cy="47447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a:extLst>
              <a:ext uri="{FF2B5EF4-FFF2-40B4-BE49-F238E27FC236}">
                <a16:creationId xmlns:a16="http://schemas.microsoft.com/office/drawing/2014/main" id="{80FB9F60-C0EA-46DF-90E1-77B6313A89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6000" y="1405890"/>
            <a:ext cx="4305300" cy="4503420"/>
          </a:xfrm>
          <a:prstGeom prst="rect">
            <a:avLst/>
          </a:prstGeom>
        </p:spPr>
      </p:pic>
    </p:spTree>
    <p:extLst>
      <p:ext uri="{BB962C8B-B14F-4D97-AF65-F5344CB8AC3E}">
        <p14:creationId xmlns:p14="http://schemas.microsoft.com/office/powerpoint/2010/main" val="693801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2402204" y="243840"/>
            <a:ext cx="8616315" cy="720725"/>
          </a:xfrm>
        </p:spPr>
        <p:txBody>
          <a:bodyPr>
            <a:normAutofit/>
          </a:bodyPr>
          <a:lstStyle/>
          <a:p>
            <a:pPr algn="ctr"/>
            <a:r>
              <a:rPr lang="en-US" b="1" dirty="0"/>
              <a:t>Taking Input from the User</a:t>
            </a:r>
          </a:p>
        </p:txBody>
      </p:sp>
      <p:sp>
        <p:nvSpPr>
          <p:cNvPr id="123907" name="Rectangle 3"/>
          <p:cNvSpPr>
            <a:spLocks noGrp="1" noChangeArrowheads="1"/>
          </p:cNvSpPr>
          <p:nvPr>
            <p:ph type="body" idx="1"/>
          </p:nvPr>
        </p:nvSpPr>
        <p:spPr>
          <a:xfrm>
            <a:off x="0" y="1447800"/>
            <a:ext cx="12192000" cy="5410200"/>
          </a:xfrm>
        </p:spPr>
        <p:txBody>
          <a:bodyPr>
            <a:normAutofit/>
          </a:bodyPr>
          <a:lstStyle/>
          <a:p>
            <a:r>
              <a:rPr lang="en-US" sz="2400" dirty="0"/>
              <a:t>In the addition program that we have written, we have initialized the variables with values like 3 and 4. </a:t>
            </a:r>
          </a:p>
          <a:p>
            <a:r>
              <a:rPr lang="en-US" sz="2400" dirty="0"/>
              <a:t>Wouldn't it be better if you could ask your friend to enter his own values and then display the sum of those two numbers? </a:t>
            </a:r>
          </a:p>
          <a:p>
            <a:r>
              <a:rPr lang="en-US" sz="2400" dirty="0"/>
              <a:t>There are several ways to do it in Java. But here, we shall look at one simple way by using the Scanner class. </a:t>
            </a:r>
          </a:p>
          <a:p>
            <a:r>
              <a:rPr lang="en-US" sz="2400" dirty="0"/>
              <a:t>You may not be able to understand every line of code that we would be writing here but still at the end, you will know how you can take different types of input- integers, real numbers, Strings from the user just like the way you are now capable of writing simple programs like displaying 'Hello World!' and adding two numbers even when you could not fully understand what public, static, void and other words meant. </a:t>
            </a:r>
          </a:p>
          <a:p>
            <a:r>
              <a:rPr lang="en-US" sz="2400" dirty="0"/>
              <a:t>Things would become clearer as we proceed to other topics. For now, we shall look at the Scanner class. </a:t>
            </a:r>
          </a:p>
        </p:txBody>
      </p:sp>
    </p:spTree>
    <p:extLst>
      <p:ext uri="{BB962C8B-B14F-4D97-AF65-F5344CB8AC3E}">
        <p14:creationId xmlns:p14="http://schemas.microsoft.com/office/powerpoint/2010/main" val="2623970533"/>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E1E48E4-C31D-C8B5-094B-50CDDA15F290}"/>
              </a:ext>
            </a:extLst>
          </p:cNvPr>
          <p:cNvSpPr txBox="1"/>
          <p:nvPr/>
        </p:nvSpPr>
        <p:spPr>
          <a:xfrm>
            <a:off x="727363" y="896404"/>
            <a:ext cx="10058401" cy="5693866"/>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Java has a number of predefined classes which we can use.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These classes are just like the HelloWorld and Addition classes that we have written but they do not contain a main method. Instead, they have some variables, constructors and some different methods.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With the help of constructors, we instantiate (create) objects from these classes.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We can create as many objects as we want from a single class and each of them have their own set of instance variables.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And, we call the methods of these objects to perform tasks. </a:t>
            </a:r>
          </a:p>
        </p:txBody>
      </p:sp>
    </p:spTree>
    <p:extLst>
      <p:ext uri="{BB962C8B-B14F-4D97-AF65-F5344CB8AC3E}">
        <p14:creationId xmlns:p14="http://schemas.microsoft.com/office/powerpoint/2010/main" val="3045977508"/>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Businessman fingers on chin">
            <a:extLst>
              <a:ext uri="{FF2B5EF4-FFF2-40B4-BE49-F238E27FC236}">
                <a16:creationId xmlns:a16="http://schemas.microsoft.com/office/drawing/2014/main" id="{DEDA1AE0-DA31-71FE-A3C6-FD0B02E600A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074" y="1720840"/>
            <a:ext cx="818072" cy="3789680"/>
          </a:xfrm>
          <a:prstGeom prst="rect">
            <a:avLst/>
          </a:prstGeom>
        </p:spPr>
      </p:pic>
      <p:sp>
        <p:nvSpPr>
          <p:cNvPr id="8" name="TextBox 7">
            <a:extLst>
              <a:ext uri="{FF2B5EF4-FFF2-40B4-BE49-F238E27FC236}">
                <a16:creationId xmlns:a16="http://schemas.microsoft.com/office/drawing/2014/main" id="{13E637BA-50EA-12CD-B8B8-E39BF04D659C}"/>
              </a:ext>
            </a:extLst>
          </p:cNvPr>
          <p:cNvSpPr txBox="1"/>
          <p:nvPr/>
        </p:nvSpPr>
        <p:spPr>
          <a:xfrm>
            <a:off x="1454727" y="1353522"/>
            <a:ext cx="8255576" cy="4524315"/>
          </a:xfrm>
          <a:prstGeom prst="rect">
            <a:avLst/>
          </a:prstGeom>
          <a:noFill/>
        </p:spPr>
        <p:txBody>
          <a:bodyPr wrap="square">
            <a:spAutoFit/>
          </a:bodyPr>
          <a:lstStyle/>
          <a:p>
            <a:r>
              <a:rPr lang="en-US" sz="2400" dirty="0"/>
              <a:t>These predefined classes are organized in the form of packages. For now, you can think of a package as a simple collection of classes. </a:t>
            </a:r>
          </a:p>
          <a:p>
            <a:r>
              <a:rPr lang="en-US" sz="2400" dirty="0"/>
              <a:t>Before we can use the class, we need to either import the entire package or the class. </a:t>
            </a:r>
          </a:p>
          <a:p>
            <a:r>
              <a:rPr lang="en-US" sz="2400" dirty="0"/>
              <a:t>We import the Scanner class using the following line. </a:t>
            </a:r>
            <a:br>
              <a:rPr lang="en-US" sz="2400" dirty="0"/>
            </a:br>
            <a:br>
              <a:rPr lang="en-US" sz="2400" dirty="0"/>
            </a:br>
            <a:r>
              <a:rPr lang="en-US" sz="2400" dirty="0"/>
              <a:t>		</a:t>
            </a:r>
            <a:r>
              <a:rPr lang="en-US" sz="2400" b="1" dirty="0"/>
              <a:t>import </a:t>
            </a:r>
            <a:r>
              <a:rPr lang="en-US" sz="2400" b="1" dirty="0" err="1"/>
              <a:t>java.util.Scanner</a:t>
            </a:r>
            <a:r>
              <a:rPr lang="en-US" sz="2400" b="1" dirty="0"/>
              <a:t>; </a:t>
            </a:r>
            <a:br>
              <a:rPr lang="en-US" sz="2400" b="1" dirty="0"/>
            </a:br>
            <a:endParaRPr lang="en-US" sz="2400" b="1" dirty="0"/>
          </a:p>
          <a:p>
            <a:r>
              <a:rPr lang="en-US" sz="2400" dirty="0"/>
              <a:t>The import statement should be the first line in our program. And then as usual we write the code for our class or program, similar to what we have done earlier. </a:t>
            </a:r>
          </a:p>
        </p:txBody>
      </p:sp>
    </p:spTree>
    <p:extLst>
      <p:ext uri="{BB962C8B-B14F-4D97-AF65-F5344CB8AC3E}">
        <p14:creationId xmlns:p14="http://schemas.microsoft.com/office/powerpoint/2010/main" val="3045977508"/>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6F96CE6-0215-17A8-C03D-AD4C39459548}"/>
              </a:ext>
            </a:extLst>
          </p:cNvPr>
          <p:cNvSpPr txBox="1"/>
          <p:nvPr/>
        </p:nvSpPr>
        <p:spPr>
          <a:xfrm>
            <a:off x="1521403" y="1166842"/>
            <a:ext cx="9149194" cy="4524315"/>
          </a:xfrm>
          <a:prstGeom prst="rect">
            <a:avLst/>
          </a:prstGeom>
          <a:noFill/>
        </p:spPr>
        <p:txBody>
          <a:bodyPr wrap="square">
            <a:spAutoFit/>
          </a:bodyPr>
          <a:lstStyle/>
          <a:p>
            <a:pPr>
              <a:buNone/>
            </a:pPr>
            <a:r>
              <a:rPr lang="en-US" dirty="0"/>
              <a:t>	</a:t>
            </a:r>
            <a:r>
              <a:rPr lang="en-US" sz="2400" dirty="0"/>
              <a:t>import </a:t>
            </a:r>
            <a:r>
              <a:rPr lang="en-US" sz="2400" dirty="0" err="1"/>
              <a:t>java.util.Scanner</a:t>
            </a:r>
            <a:r>
              <a:rPr lang="en-US" sz="2400" dirty="0"/>
              <a:t>;</a:t>
            </a:r>
            <a:br>
              <a:rPr lang="en-US" sz="2400" dirty="0"/>
            </a:br>
            <a:r>
              <a:rPr lang="en-US" sz="2400" dirty="0"/>
              <a:t>   public class Addition {</a:t>
            </a:r>
            <a:br>
              <a:rPr lang="en-US" sz="2400" dirty="0"/>
            </a:br>
            <a:r>
              <a:rPr lang="en-US" sz="2400" dirty="0"/>
              <a:t>      public static void main(String[] </a:t>
            </a:r>
            <a:r>
              <a:rPr lang="en-US" sz="2400" dirty="0" err="1"/>
              <a:t>args</a:t>
            </a:r>
            <a:r>
              <a:rPr lang="en-US" sz="2400" dirty="0"/>
              <a:t>) {</a:t>
            </a:r>
            <a:br>
              <a:rPr lang="en-US" sz="2400" dirty="0"/>
            </a:br>
            <a:r>
              <a:rPr lang="en-US" sz="2400" dirty="0"/>
              <a:t>      // some code here</a:t>
            </a:r>
            <a:br>
              <a:rPr lang="en-US" sz="2400" dirty="0"/>
            </a:br>
            <a:r>
              <a:rPr lang="en-US" sz="2400" dirty="0"/>
              <a:t>   }</a:t>
            </a:r>
            <a:br>
              <a:rPr lang="en-US" sz="2400" dirty="0"/>
            </a:br>
            <a:r>
              <a:rPr lang="en-US" sz="2400" dirty="0"/>
              <a:t>} </a:t>
            </a:r>
            <a:br>
              <a:rPr lang="en-US" sz="2400" dirty="0"/>
            </a:br>
            <a:endParaRPr lang="en-US" sz="2400" dirty="0"/>
          </a:p>
          <a:p>
            <a:r>
              <a:rPr lang="en-US" sz="2400" dirty="0"/>
              <a:t>This is the structure of a class which we are already familiar with. </a:t>
            </a:r>
          </a:p>
          <a:p>
            <a:r>
              <a:rPr lang="en-US" sz="2400" dirty="0"/>
              <a:t>Now, we need to write some code in the main method to perform the intended task. </a:t>
            </a:r>
          </a:p>
          <a:p>
            <a:r>
              <a:rPr lang="en-US" sz="2400" dirty="0"/>
              <a:t>Before we write the code, let us look at how information can be passed from the keyboard to our program using the Scanner class. </a:t>
            </a:r>
          </a:p>
        </p:txBody>
      </p:sp>
    </p:spTree>
    <p:extLst>
      <p:ext uri="{BB962C8B-B14F-4D97-AF65-F5344CB8AC3E}">
        <p14:creationId xmlns:p14="http://schemas.microsoft.com/office/powerpoint/2010/main" val="3045977508"/>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5FE1F29-9ADF-6F3C-2119-5A6C5D21F64F}"/>
              </a:ext>
            </a:extLst>
          </p:cNvPr>
          <p:cNvSpPr txBox="1"/>
          <p:nvPr/>
        </p:nvSpPr>
        <p:spPr>
          <a:xfrm>
            <a:off x="1201882" y="1074509"/>
            <a:ext cx="9788236" cy="4708981"/>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Information flows as a stream just like the way water flows through a hose. </a:t>
            </a:r>
          </a:p>
          <a:p>
            <a:pPr algn="just"/>
            <a:r>
              <a:rPr lang="en-US" sz="2000" dirty="0">
                <a:latin typeface="Times New Roman" panose="02020603050405020304" pitchFamily="18" charset="0"/>
                <a:cs typeface="Times New Roman" panose="02020603050405020304" pitchFamily="18" charset="0"/>
              </a:rPr>
              <a:t>The System class which we have used contains two pre-defined streams. </a:t>
            </a:r>
          </a:p>
          <a:p>
            <a:pPr algn="just"/>
            <a:r>
              <a:rPr lang="en-US" sz="2000" dirty="0">
                <a:latin typeface="Times New Roman" panose="02020603050405020304" pitchFamily="18" charset="0"/>
                <a:cs typeface="Times New Roman" panose="02020603050405020304" pitchFamily="18" charset="0"/>
              </a:rPr>
              <a:t>One is the output stream (out) which is connected the console. We have used it in our earlier programs to print information on the screen. </a:t>
            </a:r>
          </a:p>
          <a:p>
            <a:pPr algn="just"/>
            <a:r>
              <a:rPr lang="en-US" sz="2000" dirty="0">
                <a:latin typeface="Times New Roman" panose="02020603050405020304" pitchFamily="18" charset="0"/>
                <a:cs typeface="Times New Roman" panose="02020603050405020304" pitchFamily="18" charset="0"/>
              </a:rPr>
              <a:t>The other stream is the input stream (in) which is by default connected to the keyboard. We need to obtain the stream and convert the information in that stream into meaningful data like integers and Strings. </a:t>
            </a:r>
          </a:p>
          <a:p>
            <a:pPr algn="just"/>
            <a:r>
              <a:rPr lang="en-US" sz="2000" dirty="0">
                <a:latin typeface="Times New Roman" panose="02020603050405020304" pitchFamily="18" charset="0"/>
                <a:cs typeface="Times New Roman" panose="02020603050405020304" pitchFamily="18" charset="0"/>
              </a:rPr>
              <a:t>The input stream object (in) is accessed by the statement </a:t>
            </a:r>
            <a:r>
              <a:rPr lang="en-US" sz="2000" dirty="0" err="1">
                <a:latin typeface="Times New Roman" panose="02020603050405020304" pitchFamily="18" charset="0"/>
                <a:cs typeface="Times New Roman" panose="02020603050405020304" pitchFamily="18" charset="0"/>
              </a:rPr>
              <a:t>System.in</a:t>
            </a:r>
            <a:r>
              <a:rPr lang="en-US" sz="2000" dirty="0">
                <a:latin typeface="Times New Roman" panose="02020603050405020304" pitchFamily="18" charset="0"/>
                <a:cs typeface="Times New Roman" panose="02020603050405020304" pitchFamily="18" charset="0"/>
              </a:rPr>
              <a:t> 'System', as we have already said is a predefined class and 'in' is a variable in that class which holds a reference to an input stream object. </a:t>
            </a:r>
          </a:p>
          <a:p>
            <a:pPr algn="just"/>
            <a:r>
              <a:rPr lang="en-US" sz="2000" dirty="0">
                <a:latin typeface="Times New Roman" panose="02020603050405020304" pitchFamily="18" charset="0"/>
                <a:cs typeface="Times New Roman" panose="02020603050405020304" pitchFamily="18" charset="0"/>
              </a:rPr>
              <a:t>We now use this in object to create a Scanner object.</a:t>
            </a:r>
          </a:p>
          <a:p>
            <a:pPr algn="just"/>
            <a:r>
              <a:rPr lang="en-US" sz="2000" dirty="0">
                <a:latin typeface="Times New Roman" panose="02020603050405020304" pitchFamily="18" charset="0"/>
                <a:cs typeface="Times New Roman" panose="02020603050405020304" pitchFamily="18" charset="0"/>
              </a:rPr>
              <a:t> As we have already said, to create an object from a class, we use the constructor of that class. The constructor just like methods may require arguments. Remember that when we have used the print() or </a:t>
            </a:r>
            <a:r>
              <a:rPr lang="en-US" sz="2000" dirty="0" err="1">
                <a:latin typeface="Times New Roman" panose="02020603050405020304" pitchFamily="18" charset="0"/>
                <a:cs typeface="Times New Roman" panose="02020603050405020304" pitchFamily="18" charset="0"/>
              </a:rPr>
              <a:t>println</a:t>
            </a:r>
            <a:r>
              <a:rPr lang="en-US" sz="2000" dirty="0">
                <a:latin typeface="Times New Roman" panose="02020603050405020304" pitchFamily="18" charset="0"/>
                <a:cs typeface="Times New Roman" panose="02020603050405020304" pitchFamily="18" charset="0"/>
              </a:rPr>
              <a:t>() methods, we have passed String arguments like 'HelloWorld'. </a:t>
            </a:r>
          </a:p>
          <a:p>
            <a:pPr algn="just"/>
            <a:r>
              <a:rPr lang="en-US" sz="2000" dirty="0">
                <a:latin typeface="Times New Roman" panose="02020603050405020304" pitchFamily="18" charset="0"/>
                <a:cs typeface="Times New Roman" panose="02020603050405020304" pitchFamily="18" charset="0"/>
              </a:rPr>
              <a:t>A Scanner constructor requires an input stream object as an argument. </a:t>
            </a:r>
          </a:p>
        </p:txBody>
      </p:sp>
    </p:spTree>
    <p:extLst>
      <p:ext uri="{BB962C8B-B14F-4D97-AF65-F5344CB8AC3E}">
        <p14:creationId xmlns:p14="http://schemas.microsoft.com/office/powerpoint/2010/main" val="304597750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168645D-6732-4192-60AF-3230E044A693}"/>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9097C5FC-E877-7090-E893-8A0063B71E99}"/>
              </a:ext>
            </a:extLst>
          </p:cNvPr>
          <p:cNvSpPr>
            <a:spLocks noGrp="1"/>
          </p:cNvSpPr>
          <p:nvPr>
            <p:ph idx="1"/>
          </p:nvPr>
        </p:nvSpPr>
        <p:spPr/>
        <p:txBody>
          <a:bodyPr/>
          <a:lstStyle/>
          <a:p>
            <a:endParaRPr lang="en-US"/>
          </a:p>
        </p:txBody>
      </p:sp>
      <p:sp>
        <p:nvSpPr>
          <p:cNvPr id="7" name="Content Placeholder 2">
            <a:extLst>
              <a:ext uri="{FF2B5EF4-FFF2-40B4-BE49-F238E27FC236}">
                <a16:creationId xmlns:a16="http://schemas.microsoft.com/office/drawing/2014/main" id="{CD9425C9-C3B5-7327-8142-422D80DB35B9}"/>
              </a:ext>
            </a:extLst>
          </p:cNvPr>
          <p:cNvSpPr txBox="1">
            <a:spLocks/>
          </p:cNvSpPr>
          <p:nvPr/>
        </p:nvSpPr>
        <p:spPr>
          <a:xfrm>
            <a:off x="1323109" y="1071563"/>
            <a:ext cx="9545782" cy="510540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Therefore we pass the in object to the Scanner constructor and create a Scanner object named s in the following way. </a:t>
            </a:r>
          </a:p>
          <a:p>
            <a:pPr>
              <a:buFont typeface="Arial" panose="020B0604020202020204" pitchFamily="34" charset="0"/>
              <a:buNone/>
            </a:pPr>
            <a:r>
              <a:rPr lang="en-US" dirty="0"/>
              <a:t>		Scanner s = new Scanner ( </a:t>
            </a:r>
            <a:r>
              <a:rPr lang="en-US" dirty="0" err="1"/>
              <a:t>System.in</a:t>
            </a:r>
            <a:r>
              <a:rPr lang="en-US" dirty="0"/>
              <a:t> ); </a:t>
            </a:r>
          </a:p>
          <a:p>
            <a:r>
              <a:rPr lang="en-US" dirty="0"/>
              <a:t>Note that s is an identifier- a variable name just like </a:t>
            </a:r>
            <a:r>
              <a:rPr lang="en-US" dirty="0" err="1"/>
              <a:t>firstNumber</a:t>
            </a:r>
            <a:r>
              <a:rPr lang="en-US" dirty="0"/>
              <a:t> and </a:t>
            </a:r>
            <a:r>
              <a:rPr lang="en-US" dirty="0" err="1"/>
              <a:t>secondNumber</a:t>
            </a:r>
            <a:r>
              <a:rPr lang="en-US" dirty="0"/>
              <a:t>. </a:t>
            </a:r>
          </a:p>
          <a:p>
            <a:r>
              <a:rPr lang="en-US" dirty="0"/>
              <a:t>And </a:t>
            </a:r>
            <a:r>
              <a:rPr lang="en-US" dirty="0" err="1"/>
              <a:t>therforore</a:t>
            </a:r>
            <a:r>
              <a:rPr lang="en-US" dirty="0"/>
              <a:t> you can give any name that you want. </a:t>
            </a:r>
          </a:p>
          <a:p>
            <a:r>
              <a:rPr lang="en-US" dirty="0"/>
              <a:t>The proper way to access a variable of another class (here, in) is to refer to its name by specifying the class name followed by a dot operator and the variable name. </a:t>
            </a:r>
          </a:p>
          <a:p>
            <a:r>
              <a:rPr lang="en-US" dirty="0"/>
              <a:t>The keyword new is used to create an object.</a:t>
            </a:r>
          </a:p>
          <a:p>
            <a:r>
              <a:rPr lang="en-US" dirty="0"/>
              <a:t> Simply remember that the above statement is used to create a Scanner object named s. </a:t>
            </a:r>
          </a:p>
          <a:p>
            <a:endParaRPr lang="en-US" dirty="0"/>
          </a:p>
        </p:txBody>
      </p:sp>
    </p:spTree>
    <p:extLst>
      <p:ext uri="{BB962C8B-B14F-4D97-AF65-F5344CB8AC3E}">
        <p14:creationId xmlns:p14="http://schemas.microsoft.com/office/powerpoint/2010/main" val="1972484631"/>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7B05D13-924E-AD65-D961-D900D4F02C9C}"/>
              </a:ext>
            </a:extLst>
          </p:cNvPr>
          <p:cNvSpPr txBox="1"/>
          <p:nvPr/>
        </p:nvSpPr>
        <p:spPr>
          <a:xfrm>
            <a:off x="8890000" y="5669280"/>
            <a:ext cx="3117328" cy="923330"/>
          </a:xfrm>
          <a:prstGeom prst="rect">
            <a:avLst/>
          </a:prstGeom>
          <a:noFill/>
        </p:spPr>
        <p:txBody>
          <a:bodyPr wrap="none" rtlCol="0">
            <a:spAutoFit/>
          </a:bodyPr>
          <a:lstStyle/>
          <a:p>
            <a:r>
              <a:rPr lang="en-US" dirty="0"/>
              <a:t>Output:</a:t>
            </a:r>
          </a:p>
          <a:p>
            <a:r>
              <a:rPr lang="en-US" dirty="0"/>
              <a:t>Number found 15 at index of 2 </a:t>
            </a:r>
          </a:p>
          <a:p>
            <a:endParaRPr lang="en-IN" dirty="0"/>
          </a:p>
        </p:txBody>
      </p:sp>
      <p:sp>
        <p:nvSpPr>
          <p:cNvPr id="6" name="TextBox 5">
            <a:extLst>
              <a:ext uri="{FF2B5EF4-FFF2-40B4-BE49-F238E27FC236}">
                <a16:creationId xmlns:a16="http://schemas.microsoft.com/office/drawing/2014/main" id="{E07073A9-83B2-EBE6-5696-049388088ECB}"/>
              </a:ext>
            </a:extLst>
          </p:cNvPr>
          <p:cNvSpPr txBox="1"/>
          <p:nvPr/>
        </p:nvSpPr>
        <p:spPr>
          <a:xfrm>
            <a:off x="1657351" y="958472"/>
            <a:ext cx="8338704" cy="1938992"/>
          </a:xfrm>
          <a:prstGeom prst="rect">
            <a:avLst/>
          </a:prstGeom>
          <a:noFill/>
        </p:spPr>
        <p:txBody>
          <a:bodyPr wrap="square">
            <a:spAutoFit/>
          </a:bodyPr>
          <a:lstStyle/>
          <a:p>
            <a:r>
              <a:rPr lang="en-US" sz="2800" dirty="0"/>
              <a:t>The Scanner class has several methods which are used to take different types of inputs. They are listed in the table below. </a:t>
            </a:r>
            <a:br>
              <a:rPr lang="en-US" dirty="0"/>
            </a:br>
            <a:br>
              <a:rPr lang="en-US" dirty="0"/>
            </a:br>
            <a:endParaRPr lang="en-US" dirty="0"/>
          </a:p>
        </p:txBody>
      </p:sp>
      <p:graphicFrame>
        <p:nvGraphicFramePr>
          <p:cNvPr id="7" name="Table 6">
            <a:extLst>
              <a:ext uri="{FF2B5EF4-FFF2-40B4-BE49-F238E27FC236}">
                <a16:creationId xmlns:a16="http://schemas.microsoft.com/office/drawing/2014/main" id="{8B597F7A-29FF-7283-3A61-F38AF71FEE8C}"/>
              </a:ext>
            </a:extLst>
          </p:cNvPr>
          <p:cNvGraphicFramePr>
            <a:graphicFrameLocks noGrp="1"/>
          </p:cNvGraphicFramePr>
          <p:nvPr>
            <p:extLst>
              <p:ext uri="{D42A27DB-BD31-4B8C-83A1-F6EECF244321}">
                <p14:modId xmlns:p14="http://schemas.microsoft.com/office/powerpoint/2010/main" val="559089134"/>
              </p:ext>
            </p:extLst>
          </p:nvPr>
        </p:nvGraphicFramePr>
        <p:xfrm>
          <a:off x="2431473" y="2434570"/>
          <a:ext cx="6096000" cy="3697605"/>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49443">
                <a:tc>
                  <a:txBody>
                    <a:bodyPr/>
                    <a:lstStyle/>
                    <a:p>
                      <a:pPr algn="l"/>
                      <a:r>
                        <a:rPr lang="en-US" dirty="0" err="1">
                          <a:solidFill>
                            <a:srgbClr val="FFFFFF"/>
                          </a:solidFill>
                        </a:rPr>
                        <a:t>Methodc</a:t>
                      </a:r>
                      <a:endParaRPr lang="en-US" dirty="0">
                        <a:solidFill>
                          <a:srgbClr val="FFFFFF"/>
                        </a:solidFill>
                      </a:endParaRPr>
                    </a:p>
                  </a:txBody>
                  <a:tcPr marL="66675" marR="66675" marT="47625" marB="38100" anchor="ctr"/>
                </a:tc>
                <a:tc>
                  <a:txBody>
                    <a:bodyPr/>
                    <a:lstStyle/>
                    <a:p>
                      <a:pPr algn="l"/>
                      <a:r>
                        <a:rPr lang="en-US">
                          <a:solidFill>
                            <a:srgbClr val="FFFFFF"/>
                          </a:solidFill>
                        </a:rPr>
                        <a:t>Description</a:t>
                      </a:r>
                    </a:p>
                  </a:txBody>
                  <a:tcPr marL="66675" marR="66675" marT="47625" marB="38100" anchor="ctr"/>
                </a:tc>
                <a:extLst>
                  <a:ext uri="{0D108BD9-81ED-4DB2-BD59-A6C34878D82A}">
                    <a16:rowId xmlns:a16="http://schemas.microsoft.com/office/drawing/2014/main" val="10000"/>
                  </a:ext>
                </a:extLst>
              </a:tr>
              <a:tr h="370840">
                <a:tc>
                  <a:txBody>
                    <a:bodyPr/>
                    <a:lstStyle/>
                    <a:p>
                      <a:r>
                        <a:rPr lang="en-US" dirty="0" err="1"/>
                        <a:t>nextByte</a:t>
                      </a:r>
                      <a:r>
                        <a:rPr lang="en-US" dirty="0"/>
                        <a:t>()</a:t>
                      </a:r>
                    </a:p>
                  </a:txBody>
                  <a:tcPr marL="66675" marR="66675" marT="28575" marB="19050" anchor="ctr"/>
                </a:tc>
                <a:tc>
                  <a:txBody>
                    <a:bodyPr/>
                    <a:lstStyle/>
                    <a:p>
                      <a:r>
                        <a:rPr lang="en-US"/>
                        <a:t>Accept a byte</a:t>
                      </a:r>
                    </a:p>
                  </a:txBody>
                  <a:tcPr marL="66675" marR="66675" marT="28575" marB="19050" anchor="ctr"/>
                </a:tc>
                <a:extLst>
                  <a:ext uri="{0D108BD9-81ED-4DB2-BD59-A6C34878D82A}">
                    <a16:rowId xmlns:a16="http://schemas.microsoft.com/office/drawing/2014/main" val="10001"/>
                  </a:ext>
                </a:extLst>
              </a:tr>
              <a:tr h="370840">
                <a:tc>
                  <a:txBody>
                    <a:bodyPr/>
                    <a:lstStyle/>
                    <a:p>
                      <a:r>
                        <a:rPr lang="en-US">
                          <a:solidFill>
                            <a:srgbClr val="000000"/>
                          </a:solidFill>
                        </a:rPr>
                        <a:t>nextShort()</a:t>
                      </a:r>
                    </a:p>
                  </a:txBody>
                  <a:tcPr marL="66675" marR="66675" marT="28575" marB="19050" anchor="ctr"/>
                </a:tc>
                <a:tc>
                  <a:txBody>
                    <a:bodyPr/>
                    <a:lstStyle/>
                    <a:p>
                      <a:r>
                        <a:rPr lang="en-US">
                          <a:solidFill>
                            <a:srgbClr val="000000"/>
                          </a:solidFill>
                        </a:rPr>
                        <a:t>Accept a short</a:t>
                      </a:r>
                    </a:p>
                  </a:txBody>
                  <a:tcPr marL="66675" marR="66675" marT="28575" marB="19050" anchor="ctr"/>
                </a:tc>
                <a:extLst>
                  <a:ext uri="{0D108BD9-81ED-4DB2-BD59-A6C34878D82A}">
                    <a16:rowId xmlns:a16="http://schemas.microsoft.com/office/drawing/2014/main" val="10002"/>
                  </a:ext>
                </a:extLst>
              </a:tr>
              <a:tr h="370840">
                <a:tc>
                  <a:txBody>
                    <a:bodyPr/>
                    <a:lstStyle/>
                    <a:p>
                      <a:r>
                        <a:rPr lang="en-US" dirty="0" err="1"/>
                        <a:t>nextInt</a:t>
                      </a:r>
                      <a:r>
                        <a:rPr lang="en-US" dirty="0"/>
                        <a:t>()</a:t>
                      </a:r>
                    </a:p>
                  </a:txBody>
                  <a:tcPr marL="66675" marR="66675" marT="28575" marB="19050" anchor="ctr"/>
                </a:tc>
                <a:tc>
                  <a:txBody>
                    <a:bodyPr/>
                    <a:lstStyle/>
                    <a:p>
                      <a:r>
                        <a:rPr lang="en-US" dirty="0"/>
                        <a:t>Accept an int</a:t>
                      </a:r>
                    </a:p>
                  </a:txBody>
                  <a:tcPr marL="66675" marR="66675" marT="28575" marB="19050" anchor="ctr"/>
                </a:tc>
                <a:extLst>
                  <a:ext uri="{0D108BD9-81ED-4DB2-BD59-A6C34878D82A}">
                    <a16:rowId xmlns:a16="http://schemas.microsoft.com/office/drawing/2014/main" val="10003"/>
                  </a:ext>
                </a:extLst>
              </a:tr>
              <a:tr h="370840">
                <a:tc>
                  <a:txBody>
                    <a:bodyPr/>
                    <a:lstStyle/>
                    <a:p>
                      <a:r>
                        <a:rPr lang="en-US">
                          <a:solidFill>
                            <a:srgbClr val="000000"/>
                          </a:solidFill>
                        </a:rPr>
                        <a:t>nextLong()</a:t>
                      </a:r>
                    </a:p>
                  </a:txBody>
                  <a:tcPr marL="66675" marR="66675" marT="28575" marB="19050" anchor="ctr"/>
                </a:tc>
                <a:tc>
                  <a:txBody>
                    <a:bodyPr/>
                    <a:lstStyle/>
                    <a:p>
                      <a:r>
                        <a:rPr lang="en-US">
                          <a:solidFill>
                            <a:srgbClr val="000000"/>
                          </a:solidFill>
                        </a:rPr>
                        <a:t>Accept a long</a:t>
                      </a:r>
                    </a:p>
                  </a:txBody>
                  <a:tcPr marL="66675" marR="66675" marT="28575" marB="19050" anchor="ctr"/>
                </a:tc>
                <a:extLst>
                  <a:ext uri="{0D108BD9-81ED-4DB2-BD59-A6C34878D82A}">
                    <a16:rowId xmlns:a16="http://schemas.microsoft.com/office/drawing/2014/main" val="10004"/>
                  </a:ext>
                </a:extLst>
              </a:tr>
              <a:tr h="370840">
                <a:tc>
                  <a:txBody>
                    <a:bodyPr/>
                    <a:lstStyle/>
                    <a:p>
                      <a:r>
                        <a:rPr lang="en-US"/>
                        <a:t>next()</a:t>
                      </a:r>
                    </a:p>
                  </a:txBody>
                  <a:tcPr marL="66675" marR="66675" marT="28575" marB="19050" anchor="ctr"/>
                </a:tc>
                <a:tc>
                  <a:txBody>
                    <a:bodyPr/>
                    <a:lstStyle/>
                    <a:p>
                      <a:r>
                        <a:rPr lang="en-US"/>
                        <a:t>Accept a single word</a:t>
                      </a:r>
                    </a:p>
                  </a:txBody>
                  <a:tcPr marL="66675" marR="66675" marT="28575" marB="19050" anchor="ctr"/>
                </a:tc>
                <a:extLst>
                  <a:ext uri="{0D108BD9-81ED-4DB2-BD59-A6C34878D82A}">
                    <a16:rowId xmlns:a16="http://schemas.microsoft.com/office/drawing/2014/main" val="10005"/>
                  </a:ext>
                </a:extLst>
              </a:tr>
              <a:tr h="370840">
                <a:tc>
                  <a:txBody>
                    <a:bodyPr/>
                    <a:lstStyle/>
                    <a:p>
                      <a:r>
                        <a:rPr lang="en-US">
                          <a:solidFill>
                            <a:srgbClr val="000000"/>
                          </a:solidFill>
                        </a:rPr>
                        <a:t>nextLine()</a:t>
                      </a:r>
                    </a:p>
                  </a:txBody>
                  <a:tcPr marL="66675" marR="66675" marT="28575" marB="19050" anchor="ctr"/>
                </a:tc>
                <a:tc>
                  <a:txBody>
                    <a:bodyPr/>
                    <a:lstStyle/>
                    <a:p>
                      <a:r>
                        <a:rPr lang="en-US">
                          <a:solidFill>
                            <a:srgbClr val="000000"/>
                          </a:solidFill>
                        </a:rPr>
                        <a:t>Accept a line of String</a:t>
                      </a:r>
                    </a:p>
                  </a:txBody>
                  <a:tcPr marL="66675" marR="66675" marT="28575" marB="19050" anchor="ctr"/>
                </a:tc>
                <a:extLst>
                  <a:ext uri="{0D108BD9-81ED-4DB2-BD59-A6C34878D82A}">
                    <a16:rowId xmlns:a16="http://schemas.microsoft.com/office/drawing/2014/main" val="10006"/>
                  </a:ext>
                </a:extLst>
              </a:tr>
              <a:tr h="370840">
                <a:tc>
                  <a:txBody>
                    <a:bodyPr/>
                    <a:lstStyle/>
                    <a:p>
                      <a:r>
                        <a:rPr lang="en-US"/>
                        <a:t>nextBoolean()</a:t>
                      </a:r>
                    </a:p>
                  </a:txBody>
                  <a:tcPr marL="66675" marR="66675" marT="28575" marB="19050" anchor="ctr"/>
                </a:tc>
                <a:tc>
                  <a:txBody>
                    <a:bodyPr/>
                    <a:lstStyle/>
                    <a:p>
                      <a:r>
                        <a:rPr lang="en-US"/>
                        <a:t>Accept a boolean</a:t>
                      </a:r>
                    </a:p>
                  </a:txBody>
                  <a:tcPr marL="66675" marR="66675" marT="28575" marB="19050" anchor="ctr"/>
                </a:tc>
                <a:extLst>
                  <a:ext uri="{0D108BD9-81ED-4DB2-BD59-A6C34878D82A}">
                    <a16:rowId xmlns:a16="http://schemas.microsoft.com/office/drawing/2014/main" val="10007"/>
                  </a:ext>
                </a:extLst>
              </a:tr>
              <a:tr h="370840">
                <a:tc>
                  <a:txBody>
                    <a:bodyPr/>
                    <a:lstStyle/>
                    <a:p>
                      <a:r>
                        <a:rPr lang="en-US">
                          <a:solidFill>
                            <a:srgbClr val="000000"/>
                          </a:solidFill>
                        </a:rPr>
                        <a:t>nextFloat()</a:t>
                      </a:r>
                    </a:p>
                  </a:txBody>
                  <a:tcPr marL="66675" marR="66675" marT="28575" marB="19050" anchor="ctr"/>
                </a:tc>
                <a:tc>
                  <a:txBody>
                    <a:bodyPr/>
                    <a:lstStyle/>
                    <a:p>
                      <a:r>
                        <a:rPr lang="en-US">
                          <a:solidFill>
                            <a:srgbClr val="000000"/>
                          </a:solidFill>
                        </a:rPr>
                        <a:t>Accept a float</a:t>
                      </a:r>
                    </a:p>
                  </a:txBody>
                  <a:tcPr marL="66675" marR="66675" marT="28575" marB="19050" anchor="ctr"/>
                </a:tc>
                <a:extLst>
                  <a:ext uri="{0D108BD9-81ED-4DB2-BD59-A6C34878D82A}">
                    <a16:rowId xmlns:a16="http://schemas.microsoft.com/office/drawing/2014/main" val="10008"/>
                  </a:ext>
                </a:extLst>
              </a:tr>
              <a:tr h="370840">
                <a:tc>
                  <a:txBody>
                    <a:bodyPr/>
                    <a:lstStyle/>
                    <a:p>
                      <a:r>
                        <a:rPr lang="en-US"/>
                        <a:t>nextDouble()</a:t>
                      </a:r>
                    </a:p>
                  </a:txBody>
                  <a:tcPr marL="66675" marR="66675" marT="28575" marB="19050" anchor="ctr"/>
                </a:tc>
                <a:tc>
                  <a:txBody>
                    <a:bodyPr/>
                    <a:lstStyle/>
                    <a:p>
                      <a:r>
                        <a:rPr lang="en-US" dirty="0"/>
                        <a:t>Accept a double</a:t>
                      </a:r>
                    </a:p>
                  </a:txBody>
                  <a:tcPr marL="66675" marR="66675" marT="28575" marB="19050" anchor="ct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97248463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CDD3DA-761A-1AC5-3FCB-687D406C6865}"/>
              </a:ext>
            </a:extLst>
          </p:cNvPr>
          <p:cNvSpPr>
            <a:spLocks noGrp="1"/>
          </p:cNvSpPr>
          <p:nvPr>
            <p:ph type="title"/>
          </p:nvPr>
        </p:nvSpPr>
        <p:spPr/>
        <p:txBody>
          <a:bodyPr/>
          <a:lstStyle/>
          <a:p>
            <a:endParaRPr lang="en-US"/>
          </a:p>
        </p:txBody>
      </p:sp>
      <p:sp>
        <p:nvSpPr>
          <p:cNvPr id="6" name="Content Placeholder 5">
            <a:extLst>
              <a:ext uri="{FF2B5EF4-FFF2-40B4-BE49-F238E27FC236}">
                <a16:creationId xmlns:a16="http://schemas.microsoft.com/office/drawing/2014/main" id="{C742B155-3C2D-222C-D04C-715625E4B440}"/>
              </a:ext>
            </a:extLst>
          </p:cNvPr>
          <p:cNvSpPr>
            <a:spLocks noGrp="1"/>
          </p:cNvSpPr>
          <p:nvPr>
            <p:ph idx="1"/>
          </p:nvPr>
        </p:nvSpPr>
        <p:spPr/>
        <p:txBody>
          <a:bodyPr/>
          <a:lstStyle/>
          <a:p>
            <a:endParaRPr lang="en-US"/>
          </a:p>
        </p:txBody>
      </p:sp>
      <p:sp>
        <p:nvSpPr>
          <p:cNvPr id="8" name="TextBox 7">
            <a:extLst>
              <a:ext uri="{FF2B5EF4-FFF2-40B4-BE49-F238E27FC236}">
                <a16:creationId xmlns:a16="http://schemas.microsoft.com/office/drawing/2014/main" id="{A0F48722-3777-EF18-0B11-39FF13A18918}"/>
              </a:ext>
            </a:extLst>
          </p:cNvPr>
          <p:cNvSpPr txBox="1"/>
          <p:nvPr/>
        </p:nvSpPr>
        <p:spPr>
          <a:xfrm>
            <a:off x="1122219" y="612845"/>
            <a:ext cx="9725890" cy="5078313"/>
          </a:xfrm>
          <a:prstGeom prst="rect">
            <a:avLst/>
          </a:prstGeom>
          <a:noFill/>
        </p:spPr>
        <p:txBody>
          <a:bodyPr wrap="square">
            <a:spAutoFit/>
          </a:bodyPr>
          <a:lstStyle/>
          <a:p>
            <a:r>
              <a:rPr lang="en-US" dirty="0"/>
              <a:t>Suppose, we want to accept an integer and store it in the variable </a:t>
            </a:r>
            <a:r>
              <a:rPr lang="en-US" dirty="0" err="1"/>
              <a:t>firstNumber</a:t>
            </a:r>
            <a:r>
              <a:rPr lang="en-US" dirty="0"/>
              <a:t>, we write the following statement: </a:t>
            </a:r>
            <a:br>
              <a:rPr lang="en-US" dirty="0"/>
            </a:br>
            <a:br>
              <a:rPr lang="en-US" dirty="0"/>
            </a:br>
            <a:r>
              <a:rPr lang="en-US" dirty="0"/>
              <a:t>	int </a:t>
            </a:r>
            <a:r>
              <a:rPr lang="en-US" dirty="0" err="1"/>
              <a:t>firstNumber</a:t>
            </a:r>
            <a:r>
              <a:rPr lang="en-US" dirty="0"/>
              <a:t> = </a:t>
            </a:r>
            <a:r>
              <a:rPr lang="en-US" dirty="0" err="1"/>
              <a:t>s.nextInt</a:t>
            </a:r>
            <a:r>
              <a:rPr lang="en-US" dirty="0"/>
              <a:t>(); </a:t>
            </a:r>
          </a:p>
          <a:p>
            <a:r>
              <a:rPr lang="en-US" dirty="0"/>
              <a:t>In a similar way, we can accept other data types from the user. The following code shows the complete program which accepts two numbers from the user and adds them and displays the result. </a:t>
            </a:r>
          </a:p>
          <a:p>
            <a:pPr>
              <a:buNone/>
            </a:pPr>
            <a:r>
              <a:rPr lang="en-US" dirty="0"/>
              <a:t>	import </a:t>
            </a:r>
            <a:r>
              <a:rPr lang="en-US" dirty="0" err="1"/>
              <a:t>java.util.Scanner</a:t>
            </a:r>
            <a:r>
              <a:rPr lang="en-US" dirty="0"/>
              <a:t>;</a:t>
            </a:r>
            <a:br>
              <a:rPr lang="en-US" dirty="0"/>
            </a:br>
            <a:r>
              <a:rPr lang="en-US" dirty="0"/>
              <a:t>public class Addition {</a:t>
            </a:r>
            <a:br>
              <a:rPr lang="en-US" dirty="0"/>
            </a:br>
            <a:r>
              <a:rPr lang="en-US" dirty="0"/>
              <a:t>   public static void main(String[] </a:t>
            </a:r>
            <a:r>
              <a:rPr lang="en-US" dirty="0" err="1"/>
              <a:t>args</a:t>
            </a:r>
            <a:r>
              <a:rPr lang="en-US" dirty="0"/>
              <a:t>) {</a:t>
            </a:r>
            <a:br>
              <a:rPr lang="en-US" dirty="0"/>
            </a:br>
            <a:r>
              <a:rPr lang="en-US" dirty="0"/>
              <a:t>      Scanner s = new Scanner(</a:t>
            </a:r>
            <a:r>
              <a:rPr lang="en-US" dirty="0" err="1"/>
              <a:t>System.in</a:t>
            </a:r>
            <a:r>
              <a:rPr lang="en-US" dirty="0"/>
              <a:t>);</a:t>
            </a:r>
            <a:br>
              <a:rPr lang="en-US" dirty="0"/>
            </a:br>
            <a:r>
              <a:rPr lang="en-US" dirty="0"/>
              <a:t>      </a:t>
            </a:r>
            <a:r>
              <a:rPr lang="en-US" dirty="0" err="1"/>
              <a:t>System.out.print</a:t>
            </a:r>
            <a:r>
              <a:rPr lang="en-US" dirty="0"/>
              <a:t>("Enter first number: ");</a:t>
            </a:r>
            <a:br>
              <a:rPr lang="en-US" dirty="0"/>
            </a:br>
            <a:r>
              <a:rPr lang="en-US" dirty="0"/>
              <a:t>      int </a:t>
            </a:r>
            <a:r>
              <a:rPr lang="en-US" dirty="0" err="1"/>
              <a:t>firstNumber</a:t>
            </a:r>
            <a:r>
              <a:rPr lang="en-US" dirty="0"/>
              <a:t> = </a:t>
            </a:r>
            <a:r>
              <a:rPr lang="en-US" dirty="0" err="1"/>
              <a:t>s.nextInt</a:t>
            </a:r>
            <a:r>
              <a:rPr lang="en-US" dirty="0"/>
              <a:t>();</a:t>
            </a:r>
            <a:br>
              <a:rPr lang="en-US" dirty="0"/>
            </a:br>
            <a:r>
              <a:rPr lang="en-US" dirty="0"/>
              <a:t>      </a:t>
            </a:r>
            <a:r>
              <a:rPr lang="en-US" dirty="0" err="1"/>
              <a:t>System.out.print</a:t>
            </a:r>
            <a:r>
              <a:rPr lang="en-US" dirty="0"/>
              <a:t>("Enter second number: ");</a:t>
            </a:r>
            <a:br>
              <a:rPr lang="en-US" dirty="0"/>
            </a:br>
            <a:r>
              <a:rPr lang="en-US" dirty="0"/>
              <a:t>      int </a:t>
            </a:r>
            <a:r>
              <a:rPr lang="en-US" dirty="0" err="1"/>
              <a:t>secondNumber</a:t>
            </a:r>
            <a:r>
              <a:rPr lang="en-US" dirty="0"/>
              <a:t> = </a:t>
            </a:r>
            <a:r>
              <a:rPr lang="en-US" dirty="0" err="1"/>
              <a:t>s.nextInt</a:t>
            </a:r>
            <a:r>
              <a:rPr lang="en-US" dirty="0"/>
              <a:t>();</a:t>
            </a:r>
            <a:br>
              <a:rPr lang="en-US" dirty="0"/>
            </a:br>
            <a:r>
              <a:rPr lang="en-US" dirty="0"/>
              <a:t>      int sum = </a:t>
            </a:r>
            <a:r>
              <a:rPr lang="en-US" dirty="0" err="1"/>
              <a:t>firstNumber</a:t>
            </a:r>
            <a:r>
              <a:rPr lang="en-US" dirty="0"/>
              <a:t> + </a:t>
            </a:r>
            <a:r>
              <a:rPr lang="en-US" dirty="0" err="1"/>
              <a:t>secondNumber</a:t>
            </a:r>
            <a:r>
              <a:rPr lang="en-US" dirty="0"/>
              <a:t>;</a:t>
            </a:r>
            <a:br>
              <a:rPr lang="en-US" dirty="0"/>
            </a:br>
            <a:r>
              <a:rPr lang="en-US" dirty="0"/>
              <a:t>      </a:t>
            </a:r>
            <a:r>
              <a:rPr lang="en-US" dirty="0" err="1"/>
              <a:t>System.out.println</a:t>
            </a:r>
            <a:r>
              <a:rPr lang="en-US" dirty="0"/>
              <a:t>("The result of addition was " + sum);</a:t>
            </a:r>
            <a:br>
              <a:rPr lang="en-US" dirty="0"/>
            </a:br>
            <a:r>
              <a:rPr lang="en-US" dirty="0"/>
              <a:t>   }</a:t>
            </a:r>
            <a:br>
              <a:rPr lang="en-US" dirty="0"/>
            </a:br>
            <a:r>
              <a:rPr lang="en-US" dirty="0"/>
              <a:t>} </a:t>
            </a:r>
          </a:p>
        </p:txBody>
      </p:sp>
    </p:spTree>
    <p:extLst>
      <p:ext uri="{BB962C8B-B14F-4D97-AF65-F5344CB8AC3E}">
        <p14:creationId xmlns:p14="http://schemas.microsoft.com/office/powerpoint/2010/main" val="197248463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111;p2">
            <a:extLst>
              <a:ext uri="{FF2B5EF4-FFF2-40B4-BE49-F238E27FC236}">
                <a16:creationId xmlns:a16="http://schemas.microsoft.com/office/drawing/2014/main" id="{ED1AD869-C859-3B91-EE08-C6574BC39C16}"/>
              </a:ext>
            </a:extLst>
          </p:cNvPr>
          <p:cNvSpPr txBox="1">
            <a:spLocks/>
          </p:cNvSpPr>
          <p:nvPr/>
        </p:nvSpPr>
        <p:spPr>
          <a:xfrm>
            <a:off x="2095500" y="1683282"/>
            <a:ext cx="8001000" cy="29148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lgn="ctr">
              <a:buClr>
                <a:schemeClr val="dk1"/>
              </a:buClr>
              <a:buSzPts val="2400"/>
            </a:pPr>
            <a:r>
              <a:rPr lang="en-US" sz="2400">
                <a:solidFill>
                  <a:schemeClr val="bg2"/>
                </a:solidFill>
                <a:latin typeface="Times New Roman"/>
                <a:ea typeface="Times New Roman"/>
                <a:cs typeface="Times New Roman"/>
                <a:sym typeface="Times New Roman"/>
              </a:rPr>
              <a:t> </a:t>
            </a:r>
            <a:endParaRPr lang="en-US" sz="2400" b="1">
              <a:solidFill>
                <a:schemeClr val="bg2"/>
              </a:solidFill>
              <a:latin typeface="Times New Roman"/>
              <a:ea typeface="Times New Roman"/>
              <a:cs typeface="Times New Roman"/>
              <a:sym typeface="Times New Roman"/>
            </a:endParaRPr>
          </a:p>
          <a:p>
            <a:pPr marL="342900" indent="-342900" algn="ctr">
              <a:spcBef>
                <a:spcPts val="480"/>
              </a:spcBef>
              <a:buClr>
                <a:schemeClr val="dk1"/>
              </a:buClr>
              <a:buSzPts val="2400"/>
            </a:pPr>
            <a:r>
              <a:rPr lang="en-US" sz="2400">
                <a:solidFill>
                  <a:schemeClr val="bg2"/>
                </a:solidFill>
                <a:latin typeface="Times New Roman"/>
                <a:ea typeface="Times New Roman"/>
                <a:cs typeface="Times New Roman"/>
                <a:sym typeface="Times New Roman"/>
              </a:rPr>
              <a:t> </a:t>
            </a:r>
            <a:endParaRPr lang="en-US" sz="2400" dirty="0">
              <a:solidFill>
                <a:schemeClr val="bg2"/>
              </a:solidFill>
              <a:latin typeface="Times New Roman"/>
              <a:ea typeface="Times New Roman"/>
              <a:cs typeface="Times New Roman"/>
              <a:sym typeface="Times New Roman"/>
            </a:endParaRPr>
          </a:p>
        </p:txBody>
      </p:sp>
      <p:sp>
        <p:nvSpPr>
          <p:cNvPr id="6" name="Google Shape;113;p2">
            <a:extLst>
              <a:ext uri="{FF2B5EF4-FFF2-40B4-BE49-F238E27FC236}">
                <a16:creationId xmlns:a16="http://schemas.microsoft.com/office/drawing/2014/main" id="{839D0CAE-D2D0-6ABF-7627-D41072442D56}"/>
              </a:ext>
            </a:extLst>
          </p:cNvPr>
          <p:cNvSpPr txBox="1"/>
          <p:nvPr/>
        </p:nvSpPr>
        <p:spPr>
          <a:xfrm>
            <a:off x="2095501" y="2431422"/>
            <a:ext cx="8469086" cy="1200288"/>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None/>
            </a:pPr>
            <a:r>
              <a:rPr lang="en-US" sz="8000" b="1" u="none" strike="noStrike" cap="none" dirty="0">
                <a:solidFill>
                  <a:srgbClr val="FF0000"/>
                </a:solidFill>
                <a:latin typeface="Vladimir Script" panose="03050402040407070305" pitchFamily="66" charset="0"/>
                <a:ea typeface="Calibri" panose="020F0502020204030204" pitchFamily="34" charset="0"/>
                <a:cs typeface="Calibri" panose="020F0502020204030204" pitchFamily="34" charset="0"/>
                <a:sym typeface="Arial"/>
              </a:rPr>
              <a:t>Thank You</a:t>
            </a:r>
          </a:p>
        </p:txBody>
      </p:sp>
      <p:sp>
        <p:nvSpPr>
          <p:cNvPr id="7" name="TextBox 6">
            <a:extLst>
              <a:ext uri="{FF2B5EF4-FFF2-40B4-BE49-F238E27FC236}">
                <a16:creationId xmlns:a16="http://schemas.microsoft.com/office/drawing/2014/main" id="{FF14285C-6B7B-B37C-B6BF-C47C163C8F52}"/>
              </a:ext>
            </a:extLst>
          </p:cNvPr>
          <p:cNvSpPr txBox="1"/>
          <p:nvPr/>
        </p:nvSpPr>
        <p:spPr>
          <a:xfrm>
            <a:off x="283028" y="5780898"/>
            <a:ext cx="4060371" cy="707886"/>
          </a:xfrm>
          <a:prstGeom prst="rect">
            <a:avLst/>
          </a:prstGeom>
          <a:noFill/>
        </p:spPr>
        <p:txBody>
          <a:bodyPr wrap="square">
            <a:spAutoFit/>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For queries</a:t>
            </a:r>
          </a:p>
          <a:p>
            <a:r>
              <a:rPr lang="en-US" sz="2000" dirty="0">
                <a:latin typeface="Calibri" panose="020F0502020204030204" pitchFamily="34" charset="0"/>
                <a:ea typeface="Calibri" panose="020F0502020204030204" pitchFamily="34" charset="0"/>
                <a:cs typeface="Calibri" panose="020F0502020204030204" pitchFamily="34" charset="0"/>
              </a:rPr>
              <a:t>Email: simranjeet.e13963@cumail.in </a:t>
            </a:r>
          </a:p>
        </p:txBody>
      </p:sp>
    </p:spTree>
    <p:extLst>
      <p:ext uri="{BB962C8B-B14F-4D97-AF65-F5344CB8AC3E}">
        <p14:creationId xmlns:p14="http://schemas.microsoft.com/office/powerpoint/2010/main" val="2875457102"/>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5961</TotalTime>
  <Words>1204</Words>
  <Application>Microsoft Macintosh PowerPoint</Application>
  <PresentationFormat>Widescreen</PresentationFormat>
  <Paragraphs>94</Paragraphs>
  <Slides>11</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11</vt:i4>
      </vt:variant>
    </vt:vector>
  </HeadingPairs>
  <TitlesOfParts>
    <vt:vector size="20" baseType="lpstr">
      <vt:lpstr>Arial</vt:lpstr>
      <vt:lpstr>Calibri</vt:lpstr>
      <vt:lpstr>Calibri Light</vt:lpstr>
      <vt:lpstr>Karla</vt:lpstr>
      <vt:lpstr>Raleway ExtraBold</vt:lpstr>
      <vt:lpstr>Times New Roman</vt:lpstr>
      <vt:lpstr>Vladimir Script</vt:lpstr>
      <vt:lpstr>1_Office Theme</vt:lpstr>
      <vt:lpstr>Contents Slide Master</vt:lpstr>
      <vt:lpstr>PowerPoint Presentation</vt:lpstr>
      <vt:lpstr>Lecture Objectives </vt:lpstr>
      <vt:lpstr>Taking Input from the User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Navdeep Singh</cp:lastModifiedBy>
  <cp:revision>136</cp:revision>
  <dcterms:created xsi:type="dcterms:W3CDTF">2019-01-09T10:33:58Z</dcterms:created>
  <dcterms:modified xsi:type="dcterms:W3CDTF">2025-12-18T10:25:28Z</dcterms:modified>
</cp:coreProperties>
</file>